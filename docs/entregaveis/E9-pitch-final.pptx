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50487A8-4963-4BFF-8CD4-199D2CB02283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4EE5A1-6D81-457A-BB88-121E0BE2665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56E6AA-87EB-4CF4-84B9-389BE61973E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CAA407-FF9B-4A02-9A45-C0DCF918475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A29CBD-D811-4073-96BD-B1BA86390A6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99D56A-B51E-4D69-8C27-03028FC5264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E77214-5C03-4BDD-BB3A-6ADA745B50C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F4F124-F3A9-42F7-8A41-4B3E88F6C9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FA5604-B764-45A4-A6D6-B2C6EB94CF7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973CB4-6850-4884-B75C-3F5F2FAB075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8A91C-B60C-4EB1-8CAA-F2670013A48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400800" y="-822960"/>
            <a:ext cx="3474360" cy="3474360"/>
          </a:xfrm>
          <a:prstGeom prst="ellipse">
            <a:avLst/>
          </a:prstGeom>
          <a:solidFill>
            <a:srgbClr val="1c7293">
              <a:alpha val="35000"/>
            </a:srgbClr>
          </a:solidFill>
          <a:ln w="12700">
            <a:solidFill>
              <a:srgbClr val="1c7293">
                <a:alpha val="3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223760" y="2743200"/>
            <a:ext cx="2194200" cy="2194200"/>
          </a:xfrm>
          <a:prstGeom prst="ellipse">
            <a:avLst/>
          </a:prstGeom>
          <a:solidFill>
            <a:srgbClr val="02c39a">
              <a:alpha val="22000"/>
            </a:srgbClr>
          </a:solidFill>
          <a:ln w="12700">
            <a:solidFill>
              <a:srgbClr val="02c39a">
                <a:alpha val="2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411480" y="502920"/>
            <a:ext cx="2468520" cy="32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11480" y="50292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65a82"/>
                </a:solidFill>
                <a:effectLst/>
                <a:uFillTx/>
                <a:latin typeface="Calibri"/>
              </a:rPr>
              <a:t>AV2 · PITCH FINAL</a:t>
            </a:r>
            <a:endParaRPr b="0" lang="pt-BR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11480" y="10972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GlobalConnect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11480" y="17830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Unifor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411480" y="269748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a8d0e6"/>
                </a:solidFill>
                <a:effectLst/>
                <a:uFillTx/>
                <a:latin typeface="Calibri"/>
                <a:ea typeface="Calibri"/>
              </a:rPr>
              <a:t>Plataforma de Gestão da Mobilidade Acadêmica Internacional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11480" y="3200400"/>
            <a:ext cx="4114440" cy="27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11480" y="334656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a8d0e6"/>
                </a:solidFill>
                <a:effectLst/>
                <a:uFillTx/>
                <a:latin typeface="Calibri"/>
                <a:ea typeface="Calibri"/>
              </a:rPr>
              <a:t>Requisitos e Modelagem de Sistemas  ·  </a:t>
            </a: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ADS — Unifor 2026.1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11480" y="3730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6a9db5"/>
                </a:solidFill>
                <a:effectLst/>
                <a:uFillTx/>
                <a:latin typeface="Calibri"/>
                <a:ea typeface="Calibri"/>
              </a:rPr>
              <a:t>Entregável 9 · Apresentação Final</a:t>
            </a:r>
            <a:endParaRPr b="0" lang="pt-B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5"/>
          <p:cNvSpPr/>
          <p:nvPr/>
        </p:nvSpPr>
        <p:spPr>
          <a:xfrm>
            <a:off x="360000" y="4499640"/>
            <a:ext cx="5580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João Gabriel</a:t>
            </a:r>
            <a:br>
              <a:rPr sz="2000"/>
            </a:b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Larah Queiroz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Matheus Albuquerque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23760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ROTEIRO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47556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 que vamos apresentar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457200" y="1024200"/>
            <a:ext cx="456840" cy="45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457200" y="1371600"/>
            <a:ext cx="82260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457200" y="137160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2c39a"/>
                </a:solidFill>
                <a:effectLst/>
                <a:uFillTx/>
                <a:latin typeface="Calibri"/>
              </a:rPr>
              <a:t>01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1325880" y="1371600"/>
            <a:ext cx="7360560" cy="658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1463040" y="1472040"/>
            <a:ext cx="7040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 problema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1463040" y="1755720"/>
            <a:ext cx="7131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A dor real que estudantes enfrentam hoje no processo de intercâmbio.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9"/>
          <p:cNvSpPr/>
          <p:nvPr/>
        </p:nvSpPr>
        <p:spPr>
          <a:xfrm>
            <a:off x="457200" y="2176200"/>
            <a:ext cx="82260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457200" y="217620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2c39a"/>
                </a:solidFill>
                <a:effectLst/>
                <a:uFillTx/>
                <a:latin typeface="Calibri"/>
              </a:rPr>
              <a:t>02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1325880" y="2176200"/>
            <a:ext cx="7360560" cy="658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2"/>
          <p:cNvSpPr/>
          <p:nvPr/>
        </p:nvSpPr>
        <p:spPr>
          <a:xfrm>
            <a:off x="1463040" y="2277000"/>
            <a:ext cx="7040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A solução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1463040" y="2560320"/>
            <a:ext cx="7131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O que é o GlobalConnect Unifor e como ele transforma essa experiência.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457200" y="2980800"/>
            <a:ext cx="82260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457200" y="298080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2c39a"/>
                </a:solidFill>
                <a:effectLst/>
                <a:uFillTx/>
                <a:latin typeface="Calibri"/>
              </a:rPr>
              <a:t>03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1325880" y="2980800"/>
            <a:ext cx="7360560" cy="658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7"/>
          <p:cNvSpPr/>
          <p:nvPr/>
        </p:nvSpPr>
        <p:spPr>
          <a:xfrm>
            <a:off x="1463040" y="3081600"/>
            <a:ext cx="7040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 impacto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1463040" y="3364920"/>
            <a:ext cx="7131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O antes e o depois — o ganho concreto que a plataforma gera.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9"/>
          <p:cNvSpPr/>
          <p:nvPr/>
        </p:nvSpPr>
        <p:spPr>
          <a:xfrm>
            <a:off x="457200" y="3785760"/>
            <a:ext cx="82260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0"/>
          <p:cNvSpPr/>
          <p:nvPr/>
        </p:nvSpPr>
        <p:spPr>
          <a:xfrm>
            <a:off x="457200" y="3785760"/>
            <a:ext cx="822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2c39a"/>
                </a:solidFill>
                <a:effectLst/>
                <a:uFillTx/>
                <a:latin typeface="Calibri"/>
              </a:rPr>
              <a:t>04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1"/>
          <p:cNvSpPr/>
          <p:nvPr/>
        </p:nvSpPr>
        <p:spPr>
          <a:xfrm>
            <a:off x="1325880" y="3785760"/>
            <a:ext cx="7360560" cy="658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2"/>
          <p:cNvSpPr/>
          <p:nvPr/>
        </p:nvSpPr>
        <p:spPr>
          <a:xfrm>
            <a:off x="1463040" y="3886200"/>
            <a:ext cx="7040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 MVP e a demonstração ao vivo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1463040" y="4169520"/>
            <a:ext cx="7131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As funcionalidades essenciais e o protótipo funcionando de verdade.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0" y="73080"/>
            <a:ext cx="109440" cy="5069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320040" y="25596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O PROBLEMA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320040" y="5119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Fazer intercâmbio na Unifor é mais difícil do que deveria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4"/>
          <p:cNvSpPr/>
          <p:nvPr/>
        </p:nvSpPr>
        <p:spPr>
          <a:xfrm>
            <a:off x="320040" y="1097280"/>
            <a:ext cx="456840" cy="36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5"/>
          <p:cNvSpPr/>
          <p:nvPr/>
        </p:nvSpPr>
        <p:spPr>
          <a:xfrm>
            <a:off x="320040" y="128016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Hoje, o processo é totalmente manual, presencial e burocrático. Ouvimos isso de estudantes reais de ADS da Unifor: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6"/>
          <p:cNvSpPr/>
          <p:nvPr/>
        </p:nvSpPr>
        <p:spPr>
          <a:xfrm>
            <a:off x="320040" y="1874520"/>
            <a:ext cx="4114440" cy="1142640"/>
          </a:xfrm>
          <a:prstGeom prst="rect">
            <a:avLst/>
          </a:prstGeom>
          <a:solidFill>
            <a:srgbClr val="e8f4f8"/>
          </a:solidFill>
          <a:ln w="1270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320040" y="1874520"/>
            <a:ext cx="72720" cy="1142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8"/>
          <p:cNvSpPr/>
          <p:nvPr/>
        </p:nvSpPr>
        <p:spPr>
          <a:xfrm>
            <a:off x="548640" y="2011680"/>
            <a:ext cx="3748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"A burocracia parece muito pesada e não sei onde conseguir os documentos."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548640" y="2697480"/>
            <a:ext cx="374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— Guilherme · ADS  [resposta real]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4617720" y="1874520"/>
            <a:ext cx="4114440" cy="1142640"/>
          </a:xfrm>
          <a:prstGeom prst="rect">
            <a:avLst/>
          </a:prstGeom>
          <a:solidFill>
            <a:srgbClr val="e8f4f8"/>
          </a:solidFill>
          <a:ln w="1270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4617720" y="1874520"/>
            <a:ext cx="72720" cy="1142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4846320" y="2011680"/>
            <a:ext cx="3748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"Obter e validar os documentos é a etapa mais difícil. Quero entregar tudo online."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4846320" y="2697480"/>
            <a:ext cx="374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— Thiago · ADS  [resposta real]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320040" y="32004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As 3 grandes dores do processo atual: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5"/>
          <p:cNvSpPr/>
          <p:nvPr/>
        </p:nvSpPr>
        <p:spPr>
          <a:xfrm>
            <a:off x="320040" y="3520440"/>
            <a:ext cx="269712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457200" y="3611880"/>
            <a:ext cx="2422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Pouca informação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457200" y="390456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Os estudantes entrevistados não conheciam os prazos com antecedência.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8"/>
          <p:cNvSpPr/>
          <p:nvPr/>
        </p:nvSpPr>
        <p:spPr>
          <a:xfrm>
            <a:off x="3173040" y="3520440"/>
            <a:ext cx="269712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9"/>
          <p:cNvSpPr/>
          <p:nvPr/>
        </p:nvSpPr>
        <p:spPr>
          <a:xfrm>
            <a:off x="3310200" y="3611880"/>
            <a:ext cx="2422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Burocrático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0"/>
          <p:cNvSpPr/>
          <p:nvPr/>
        </p:nvSpPr>
        <p:spPr>
          <a:xfrm>
            <a:off x="3310200" y="390456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Documentos físicos, traduções caras e atendimento presencial.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1"/>
          <p:cNvSpPr/>
          <p:nvPr/>
        </p:nvSpPr>
        <p:spPr>
          <a:xfrm>
            <a:off x="6026040" y="3520440"/>
            <a:ext cx="2697120" cy="959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2"/>
          <p:cNvSpPr/>
          <p:nvPr/>
        </p:nvSpPr>
        <p:spPr>
          <a:xfrm>
            <a:off x="6163200" y="3611880"/>
            <a:ext cx="2422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Sem rastreamento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3"/>
          <p:cNvSpPr/>
          <p:nvPr/>
        </p:nvSpPr>
        <p:spPr>
          <a:xfrm>
            <a:off x="6163200" y="390456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Nenhuma forma de acompanhar o status da candidatura.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4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457200" y="23760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A EXPERIÊNCIA HOJE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457200" y="47556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Quanto mais o aluno avança, pior ele se sente</a:t>
            </a:r>
            <a:endParaRPr b="0" lang="pt-BR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457200" y="1024200"/>
            <a:ext cx="456840" cy="45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1097280" y="2468880"/>
            <a:ext cx="7406640" cy="360"/>
          </a:xfrm>
          <a:prstGeom prst="line">
            <a:avLst/>
          </a:prstGeom>
          <a:ln w="9525">
            <a:solidFill>
              <a:srgbClr val="4a657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320040" y="150876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😊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320040" y="22860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😐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320040" y="31546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😣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1554480" y="2148840"/>
            <a:ext cx="1188720" cy="457200"/>
          </a:xfrm>
          <a:prstGeom prst="line">
            <a:avLst/>
          </a:prstGeom>
          <a:ln w="317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2743200" y="2606040"/>
            <a:ext cx="1188720" cy="228600"/>
          </a:xfrm>
          <a:prstGeom prst="line">
            <a:avLst/>
          </a:prstGeom>
          <a:ln w="317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3931920" y="2834640"/>
            <a:ext cx="1280160" cy="274320"/>
          </a:xfrm>
          <a:prstGeom prst="line">
            <a:avLst/>
          </a:prstGeom>
          <a:ln w="317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1"/>
          <p:cNvSpPr/>
          <p:nvPr/>
        </p:nvSpPr>
        <p:spPr>
          <a:xfrm flipV="1">
            <a:off x="5212080" y="3017520"/>
            <a:ext cx="1280160" cy="91440"/>
          </a:xfrm>
          <a:prstGeom prst="line">
            <a:avLst/>
          </a:prstGeom>
          <a:ln w="317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6492240" y="3017520"/>
            <a:ext cx="1280160" cy="320040"/>
          </a:xfrm>
          <a:prstGeom prst="line">
            <a:avLst/>
          </a:prstGeom>
          <a:ln w="317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3"/>
          <p:cNvSpPr/>
          <p:nvPr/>
        </p:nvSpPr>
        <p:spPr>
          <a:xfrm>
            <a:off x="1408320" y="2002680"/>
            <a:ext cx="292320" cy="292320"/>
          </a:xfrm>
          <a:prstGeom prst="ellipse">
            <a:avLst/>
          </a:prstGeom>
          <a:solidFill>
            <a:srgbClr val="e67e22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1143000" y="123444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🤔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914400" y="24231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Descoberta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2597040" y="2459880"/>
            <a:ext cx="292320" cy="2923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2331720" y="169164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😟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2103120" y="28803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Elegibilidade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9"/>
          <p:cNvSpPr/>
          <p:nvPr/>
        </p:nvSpPr>
        <p:spPr>
          <a:xfrm>
            <a:off x="3785760" y="2688480"/>
            <a:ext cx="292320" cy="2923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3520440" y="192024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😕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3291840" y="31089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Destino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2"/>
          <p:cNvSpPr/>
          <p:nvPr/>
        </p:nvSpPr>
        <p:spPr>
          <a:xfrm>
            <a:off x="5065920" y="2962800"/>
            <a:ext cx="292320" cy="2923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4800600" y="219456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😣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4"/>
          <p:cNvSpPr/>
          <p:nvPr/>
        </p:nvSpPr>
        <p:spPr>
          <a:xfrm>
            <a:off x="4572000" y="338328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Documentos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5"/>
          <p:cNvSpPr/>
          <p:nvPr/>
        </p:nvSpPr>
        <p:spPr>
          <a:xfrm>
            <a:off x="6346080" y="2871360"/>
            <a:ext cx="292320" cy="2923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6"/>
          <p:cNvSpPr/>
          <p:nvPr/>
        </p:nvSpPr>
        <p:spPr>
          <a:xfrm>
            <a:off x="6080760" y="210312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😨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7"/>
          <p:cNvSpPr/>
          <p:nvPr/>
        </p:nvSpPr>
        <p:spPr>
          <a:xfrm>
            <a:off x="5852160" y="329184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Inscrição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8"/>
          <p:cNvSpPr/>
          <p:nvPr/>
        </p:nvSpPr>
        <p:spPr>
          <a:xfrm>
            <a:off x="7626240" y="3191400"/>
            <a:ext cx="292320" cy="2923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9"/>
          <p:cNvSpPr/>
          <p:nvPr/>
        </p:nvSpPr>
        <p:spPr>
          <a:xfrm>
            <a:off x="7360920" y="242316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😰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0"/>
          <p:cNvSpPr/>
          <p:nvPr/>
        </p:nvSpPr>
        <p:spPr>
          <a:xfrm>
            <a:off x="7132320" y="361188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Espera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1"/>
          <p:cNvSpPr/>
          <p:nvPr/>
        </p:nvSpPr>
        <p:spPr>
          <a:xfrm>
            <a:off x="457200" y="4160520"/>
            <a:ext cx="8229240" cy="548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2"/>
          <p:cNvSpPr/>
          <p:nvPr/>
        </p:nvSpPr>
        <p:spPr>
          <a:xfrm>
            <a:off x="457200" y="4160520"/>
            <a:ext cx="91080" cy="548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3"/>
          <p:cNvSpPr/>
          <p:nvPr/>
        </p:nvSpPr>
        <p:spPr>
          <a:xfrm>
            <a:off x="658440" y="416052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A jornada é descendente.  </a:t>
            </a:r>
            <a:r>
              <a:rPr b="0" lang="en-US" sz="120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O intercâmbio deveria ser empolgante — mas o processo atual transforma entusiasmo em ansiedade.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4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"/>
          <p:cNvSpPr/>
          <p:nvPr/>
        </p:nvSpPr>
        <p:spPr>
          <a:xfrm>
            <a:off x="6217920" y="-914400"/>
            <a:ext cx="3840120" cy="384012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411480" y="4572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A SOLUÇÃO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411480" y="777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GlobalConnect Unifor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411480" y="1417320"/>
            <a:ext cx="7954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a8d0e6"/>
                </a:solidFill>
                <a:effectLst/>
                <a:uFillTx/>
                <a:latin typeface="Calibri"/>
                <a:ea typeface="Calibri"/>
              </a:rPr>
              <a:t>Uma plataforma digital que torna o intercâmbio acessível, transparente e mensurável — do primeiro acesso ao aproveitamento de créditos no retorno.</a:t>
            </a:r>
            <a:endParaRPr b="0" lang="pt-B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411480" y="2240280"/>
            <a:ext cx="3931560" cy="100548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6"/>
          <p:cNvSpPr/>
          <p:nvPr/>
        </p:nvSpPr>
        <p:spPr>
          <a:xfrm>
            <a:off x="411480" y="2240280"/>
            <a:ext cx="91080" cy="1005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640080" y="235908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Centraliza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640080" y="26974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Todas as informações e oportunidades em um único portal.</a:t>
            </a:r>
            <a:endParaRPr b="0" lang="pt-B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9"/>
          <p:cNvSpPr/>
          <p:nvPr/>
        </p:nvSpPr>
        <p:spPr>
          <a:xfrm>
            <a:off x="4572000" y="2240280"/>
            <a:ext cx="3931560" cy="100548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4572000" y="2240280"/>
            <a:ext cx="91080" cy="1005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1"/>
          <p:cNvSpPr/>
          <p:nvPr/>
        </p:nvSpPr>
        <p:spPr>
          <a:xfrm>
            <a:off x="4800600" y="235908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Automatiza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4800600" y="26974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Verificação de elegibilidade cruzando o histórico acadêmico.</a:t>
            </a:r>
            <a:endParaRPr b="0" lang="pt-B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3"/>
          <p:cNvSpPr/>
          <p:nvPr/>
        </p:nvSpPr>
        <p:spPr>
          <a:xfrm>
            <a:off x="411480" y="3383280"/>
            <a:ext cx="3931560" cy="100548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411480" y="3383280"/>
            <a:ext cx="91080" cy="1005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640080" y="350208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Digitaliza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640080" y="38404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Envio de documentos 100% online, sem ir ao NEI.</a:t>
            </a:r>
            <a:endParaRPr b="0" lang="pt-B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4572000" y="3383280"/>
            <a:ext cx="3931560" cy="100548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8"/>
          <p:cNvSpPr/>
          <p:nvPr/>
        </p:nvSpPr>
        <p:spPr>
          <a:xfrm>
            <a:off x="4572000" y="3383280"/>
            <a:ext cx="91080" cy="1005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9"/>
          <p:cNvSpPr/>
          <p:nvPr/>
        </p:nvSpPr>
        <p:spPr>
          <a:xfrm>
            <a:off x="4800600" y="3502080"/>
            <a:ext cx="3565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Acompanha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4800600" y="38404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Status da candidatura em tempo real, com notificações.</a:t>
            </a:r>
            <a:endParaRPr b="0" lang="pt-B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320040" y="201240"/>
            <a:ext cx="8229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O IMPACTO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320040" y="438840"/>
            <a:ext cx="8503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 antes e o depois do GlobalConnect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"/>
          <p:cNvSpPr/>
          <p:nvPr/>
        </p:nvSpPr>
        <p:spPr>
          <a:xfrm>
            <a:off x="320040" y="1051560"/>
            <a:ext cx="4114440" cy="3565800"/>
          </a:xfrm>
          <a:prstGeom prst="rect">
            <a:avLst/>
          </a:prstGeom>
          <a:solidFill>
            <a:srgbClr val="fbf0ef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320040" y="1051560"/>
            <a:ext cx="4114440" cy="548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502920" y="105156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❌  HOJE (processo manual)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548640" y="178308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914400" y="178308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Informação espalhada em vários sites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548640" y="223128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914400" y="223128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Ida presencial ao NEI para tudo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548640" y="267912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914400" y="26791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Documentos físicos e traduções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548640" y="312732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914400" y="31273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Sem saber se está apto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548640" y="35751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914400" y="357516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Zero visibilidade do andamento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6"/>
          <p:cNvSpPr/>
          <p:nvPr/>
        </p:nvSpPr>
        <p:spPr>
          <a:xfrm>
            <a:off x="548640" y="40233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✕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914400" y="402336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Comunicação só por e-mail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44348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pt-BR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9"/>
          <p:cNvSpPr/>
          <p:nvPr/>
        </p:nvSpPr>
        <p:spPr>
          <a:xfrm>
            <a:off x="4983480" y="1051560"/>
            <a:ext cx="3840120" cy="3565800"/>
          </a:xfrm>
          <a:prstGeom prst="rect">
            <a:avLst/>
          </a:prstGeom>
          <a:solidFill>
            <a:srgbClr val="eaf9f4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0"/>
          <p:cNvSpPr/>
          <p:nvPr/>
        </p:nvSpPr>
        <p:spPr>
          <a:xfrm>
            <a:off x="4983480" y="1051560"/>
            <a:ext cx="3840120" cy="548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5166360" y="105156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  COM O GLOBALCONNECT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2"/>
          <p:cNvSpPr/>
          <p:nvPr/>
        </p:nvSpPr>
        <p:spPr>
          <a:xfrm>
            <a:off x="5212080" y="178308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3"/>
          <p:cNvSpPr/>
          <p:nvPr/>
        </p:nvSpPr>
        <p:spPr>
          <a:xfrm>
            <a:off x="5577840" y="17830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Tudo num único portal digital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5212080" y="223128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5577840" y="22312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100% online, de qualquer lugar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6"/>
          <p:cNvSpPr/>
          <p:nvPr/>
        </p:nvSpPr>
        <p:spPr>
          <a:xfrm>
            <a:off x="5212080" y="267912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7"/>
          <p:cNvSpPr/>
          <p:nvPr/>
        </p:nvSpPr>
        <p:spPr>
          <a:xfrm>
            <a:off x="5577840" y="26791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Upload digital com validação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8"/>
          <p:cNvSpPr/>
          <p:nvPr/>
        </p:nvSpPr>
        <p:spPr>
          <a:xfrm>
            <a:off x="5212080" y="312732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9"/>
          <p:cNvSpPr/>
          <p:nvPr/>
        </p:nvSpPr>
        <p:spPr>
          <a:xfrm>
            <a:off x="5577840" y="312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Elegibilidade automática na hora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0"/>
          <p:cNvSpPr/>
          <p:nvPr/>
        </p:nvSpPr>
        <p:spPr>
          <a:xfrm>
            <a:off x="5212080" y="35751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1"/>
          <p:cNvSpPr/>
          <p:nvPr/>
        </p:nvSpPr>
        <p:spPr>
          <a:xfrm>
            <a:off x="5577840" y="35751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Status em tempo real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2"/>
          <p:cNvSpPr/>
          <p:nvPr/>
        </p:nvSpPr>
        <p:spPr>
          <a:xfrm>
            <a:off x="5212080" y="40233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3"/>
          <p:cNvSpPr/>
          <p:nvPr/>
        </p:nvSpPr>
        <p:spPr>
          <a:xfrm>
            <a:off x="5577840" y="40233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Notificações automáticas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4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411480" y="4572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EM NÚMEROS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411480" y="777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 alcance da plataforma</a:t>
            </a:r>
            <a:endParaRPr b="0" lang="pt-B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411480" y="1600200"/>
            <a:ext cx="3931560" cy="137124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411480" y="1600200"/>
            <a:ext cx="91080" cy="1371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85800" y="176472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135+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2514600" y="1764720"/>
            <a:ext cx="17370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instituições parceiras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 mundo todo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7"/>
          <p:cNvSpPr/>
          <p:nvPr/>
        </p:nvSpPr>
        <p:spPr>
          <a:xfrm>
            <a:off x="4617720" y="1600200"/>
            <a:ext cx="3931560" cy="137124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8"/>
          <p:cNvSpPr/>
          <p:nvPr/>
        </p:nvSpPr>
        <p:spPr>
          <a:xfrm>
            <a:off x="4617720" y="1600200"/>
            <a:ext cx="91080" cy="1371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4892040" y="176472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6720840" y="1764720"/>
            <a:ext cx="17370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países disponíveis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 intercâmbio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1"/>
          <p:cNvSpPr/>
          <p:nvPr/>
        </p:nvSpPr>
        <p:spPr>
          <a:xfrm>
            <a:off x="411480" y="3154680"/>
            <a:ext cx="3931560" cy="137124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2"/>
          <p:cNvSpPr/>
          <p:nvPr/>
        </p:nvSpPr>
        <p:spPr>
          <a:xfrm>
            <a:off x="411480" y="3154680"/>
            <a:ext cx="91080" cy="1371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685800" y="331920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100%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2514600" y="3319200"/>
            <a:ext cx="17370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 processo de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candidatura digital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5"/>
          <p:cNvSpPr/>
          <p:nvPr/>
        </p:nvSpPr>
        <p:spPr>
          <a:xfrm>
            <a:off x="4617720" y="3154680"/>
            <a:ext cx="3931560" cy="1371240"/>
          </a:xfrm>
          <a:prstGeom prst="rect">
            <a:avLst/>
          </a:prstGeom>
          <a:solidFill>
            <a:srgbClr val="0a6e9e"/>
          </a:solidFill>
          <a:ln w="12700">
            <a:solidFill>
              <a:srgbClr val="0a6e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4617720" y="3154680"/>
            <a:ext cx="91080" cy="1371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4892040" y="331920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0</a:t>
            </a:r>
            <a:endParaRPr b="0" lang="pt-B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6720840" y="3319200"/>
            <a:ext cx="17370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idas presenciais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ao NEI necessárias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23760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O MVP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457200" y="47556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7 funcionalidades essenciais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457200" y="1024200"/>
            <a:ext cx="456840" cy="45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457200" y="10972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 que o sistema entrega na primeira versão — todas validadas pelas dores reais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5"/>
          <p:cNvSpPr/>
          <p:nvPr/>
        </p:nvSpPr>
        <p:spPr>
          <a:xfrm>
            <a:off x="457200" y="148140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457200" y="148140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US-01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7"/>
          <p:cNvSpPr/>
          <p:nvPr/>
        </p:nvSpPr>
        <p:spPr>
          <a:xfrm>
            <a:off x="1417320" y="1481400"/>
            <a:ext cx="7269120" cy="392760"/>
          </a:xfrm>
          <a:prstGeom prst="rect">
            <a:avLst/>
          </a:prstGeom>
          <a:solidFill>
            <a:srgbClr val="f0f7fb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1554480" y="148140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Portal centralizado de oportunidades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9"/>
          <p:cNvSpPr/>
          <p:nvPr/>
        </p:nvSpPr>
        <p:spPr>
          <a:xfrm>
            <a:off x="457200" y="194328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57200" y="194328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US-02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1"/>
          <p:cNvSpPr/>
          <p:nvPr/>
        </p:nvSpPr>
        <p:spPr>
          <a:xfrm>
            <a:off x="1417320" y="1943280"/>
            <a:ext cx="7269120" cy="392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1554480" y="194328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Verificação automática de elegibilidade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3"/>
          <p:cNvSpPr/>
          <p:nvPr/>
        </p:nvSpPr>
        <p:spPr>
          <a:xfrm>
            <a:off x="457200" y="240480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"/>
          <p:cNvSpPr/>
          <p:nvPr/>
        </p:nvSpPr>
        <p:spPr>
          <a:xfrm>
            <a:off x="457200" y="240480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US-03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5"/>
          <p:cNvSpPr/>
          <p:nvPr/>
        </p:nvSpPr>
        <p:spPr>
          <a:xfrm>
            <a:off x="1417320" y="2404800"/>
            <a:ext cx="7269120" cy="392760"/>
          </a:xfrm>
          <a:prstGeom prst="rect">
            <a:avLst/>
          </a:prstGeom>
          <a:solidFill>
            <a:srgbClr val="f0f7fb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6"/>
          <p:cNvSpPr/>
          <p:nvPr/>
        </p:nvSpPr>
        <p:spPr>
          <a:xfrm>
            <a:off x="1554480" y="240480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Upload digital de documentos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7"/>
          <p:cNvSpPr/>
          <p:nvPr/>
        </p:nvSpPr>
        <p:spPr>
          <a:xfrm>
            <a:off x="457200" y="286668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8"/>
          <p:cNvSpPr/>
          <p:nvPr/>
        </p:nvSpPr>
        <p:spPr>
          <a:xfrm>
            <a:off x="457200" y="286668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US-04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9"/>
          <p:cNvSpPr/>
          <p:nvPr/>
        </p:nvSpPr>
        <p:spPr>
          <a:xfrm>
            <a:off x="1417320" y="2866680"/>
            <a:ext cx="7269120" cy="392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0"/>
          <p:cNvSpPr/>
          <p:nvPr/>
        </p:nvSpPr>
        <p:spPr>
          <a:xfrm>
            <a:off x="1554480" y="286668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Checklist interativo de documentos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1"/>
          <p:cNvSpPr/>
          <p:nvPr/>
        </p:nvSpPr>
        <p:spPr>
          <a:xfrm>
            <a:off x="457200" y="332856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2"/>
          <p:cNvSpPr/>
          <p:nvPr/>
        </p:nvSpPr>
        <p:spPr>
          <a:xfrm>
            <a:off x="457200" y="332856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US-05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3"/>
          <p:cNvSpPr/>
          <p:nvPr/>
        </p:nvSpPr>
        <p:spPr>
          <a:xfrm>
            <a:off x="1417320" y="3328560"/>
            <a:ext cx="7269120" cy="392760"/>
          </a:xfrm>
          <a:prstGeom prst="rect">
            <a:avLst/>
          </a:prstGeom>
          <a:solidFill>
            <a:srgbClr val="f0f7fb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4"/>
          <p:cNvSpPr/>
          <p:nvPr/>
        </p:nvSpPr>
        <p:spPr>
          <a:xfrm>
            <a:off x="1554480" y="332856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Painel de status da candidatura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5"/>
          <p:cNvSpPr/>
          <p:nvPr/>
        </p:nvSpPr>
        <p:spPr>
          <a:xfrm>
            <a:off x="457200" y="379008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6"/>
          <p:cNvSpPr/>
          <p:nvPr/>
        </p:nvSpPr>
        <p:spPr>
          <a:xfrm>
            <a:off x="457200" y="379008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US-06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7"/>
          <p:cNvSpPr/>
          <p:nvPr/>
        </p:nvSpPr>
        <p:spPr>
          <a:xfrm>
            <a:off x="1417320" y="3790080"/>
            <a:ext cx="7269120" cy="392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8"/>
          <p:cNvSpPr/>
          <p:nvPr/>
        </p:nvSpPr>
        <p:spPr>
          <a:xfrm>
            <a:off x="1554480" y="379008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Notificações automáticas de prazos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9"/>
          <p:cNvSpPr/>
          <p:nvPr/>
        </p:nvSpPr>
        <p:spPr>
          <a:xfrm>
            <a:off x="457200" y="4251960"/>
            <a:ext cx="914040" cy="392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0"/>
          <p:cNvSpPr/>
          <p:nvPr/>
        </p:nvSpPr>
        <p:spPr>
          <a:xfrm>
            <a:off x="457200" y="4251960"/>
            <a:ext cx="914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US-07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1"/>
          <p:cNvSpPr/>
          <p:nvPr/>
        </p:nvSpPr>
        <p:spPr>
          <a:xfrm>
            <a:off x="1417320" y="4251960"/>
            <a:ext cx="7269120" cy="392760"/>
          </a:xfrm>
          <a:prstGeom prst="rect">
            <a:avLst/>
          </a:prstGeom>
          <a:solidFill>
            <a:srgbClr val="f0f7fb"/>
          </a:solidFill>
          <a:ln w="6350">
            <a:solidFill>
              <a:srgbClr val="d5e6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32"/>
          <p:cNvSpPr/>
          <p:nvPr/>
        </p:nvSpPr>
        <p:spPr>
          <a:xfrm>
            <a:off x="1554480" y="4251960"/>
            <a:ext cx="70405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a2b35"/>
                </a:solidFill>
                <a:effectLst/>
                <a:uFillTx/>
                <a:latin typeface="Calibri"/>
                <a:ea typeface="Calibri"/>
              </a:rPr>
              <a:t>Painel administrativo do NEI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3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"/>
          <p:cNvSpPr/>
          <p:nvPr/>
        </p:nvSpPr>
        <p:spPr>
          <a:xfrm>
            <a:off x="5943600" y="1097280"/>
            <a:ext cx="4114440" cy="4114440"/>
          </a:xfrm>
          <a:prstGeom prst="ellipse">
            <a:avLst/>
          </a:prstGeom>
          <a:solidFill>
            <a:srgbClr val="1c7293">
              <a:alpha val="28000"/>
            </a:srgbClr>
          </a:solidFill>
          <a:ln w="12700">
            <a:solidFill>
              <a:srgbClr val="1c7293">
                <a:alpha val="2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411480" y="1097280"/>
            <a:ext cx="137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b="0" lang="pt-BR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411480" y="21031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b="0" lang="pt-B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411480" y="269748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a8d0e6"/>
                </a:solidFill>
                <a:effectLst/>
                <a:uFillTx/>
                <a:latin typeface="Calibri"/>
                <a:ea typeface="Calibri"/>
              </a:rPr>
              <a:t>Vamos navegar pelo protótipo de alta fidelidade do sistema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411480" y="3246120"/>
            <a:ext cx="7954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Início → Elegibilidade → Documentos → Status → Painel do NEI</a:t>
            </a:r>
            <a:endParaRPr b="0" lang="pt-B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365760" y="4827960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a6572"/>
                </a:solidFill>
                <a:effectLst/>
                <a:uFillTx/>
                <a:latin typeface="Calibri"/>
                <a:ea typeface="Calibri"/>
              </a:rPr>
              <a:t>GlobalConnect Unifor · AV2 — Entregável 9 · Pitch Final</a:t>
            </a:r>
            <a:endParaRPr b="0" lang="pt-BR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"/>
          <p:cNvSpPr/>
          <p:nvPr/>
        </p:nvSpPr>
        <p:spPr>
          <a:xfrm>
            <a:off x="6035040" y="365760"/>
            <a:ext cx="3657240" cy="3657240"/>
          </a:xfrm>
          <a:prstGeom prst="ellipse">
            <a:avLst/>
          </a:prstGeom>
          <a:solidFill>
            <a:srgbClr val="1c7293">
              <a:alpha val="26000"/>
            </a:srgbClr>
          </a:solidFill>
          <a:ln w="12700">
            <a:solidFill>
              <a:srgbClr val="1c7293">
                <a:alpha val="26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411480" y="118872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Obrigado!</a:t>
            </a:r>
            <a:endParaRPr b="0" lang="pt-BR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411480" y="2148840"/>
            <a:ext cx="7772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a8d0e6"/>
                </a:solidFill>
                <a:effectLst/>
                <a:uFillTx/>
                <a:latin typeface="Calibri"/>
                <a:ea typeface="Calibri"/>
              </a:rPr>
              <a:t>GlobalConnect Unifor — transformando ansiedade em entusiasmo, do primeiro acesso ao embarque.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411480" y="2834640"/>
            <a:ext cx="5028840" cy="27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360000" y="324000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João Gabriel</a:t>
            </a:r>
            <a:br>
              <a:rPr sz="2000"/>
            </a:b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Larah Queiroz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02c39a"/>
                </a:solidFill>
                <a:effectLst/>
                <a:uFillTx/>
                <a:latin typeface="Calibri"/>
                <a:ea typeface="Calibri"/>
              </a:rPr>
              <a:t>Matheus Albuquerque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11480" y="4114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6a9db5"/>
                </a:solidFill>
                <a:effectLst/>
                <a:uFillTx/>
                <a:latin typeface="Calibri"/>
                <a:ea typeface="Calibri"/>
              </a:rPr>
              <a:t>github.com/matheusabporto/globalconnect-unifor</a:t>
            </a:r>
            <a:endParaRPr b="0" lang="pt-B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2026-06-02T17:12:41Z</dcterms:created>
  <dc:creator>PptxGenJS</dc:creator>
  <dc:description/>
  <dc:language>pt-BR</dc:language>
  <cp:lastModifiedBy/>
  <dcterms:modified xsi:type="dcterms:W3CDTF">2026-06-02T17:07:16Z</dcterms:modified>
  <cp:revision>2</cp:revision>
  <dc:subject>PptxGenJS Presentation</dc:subject>
  <dc:title>GlobalConnect Unifor - E9 Pitch Final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