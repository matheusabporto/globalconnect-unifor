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926080"/>
            <a:ext cx="2011680" cy="201168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57200"/>
            <a:ext cx="1920240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57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ENTREGÁVEL 04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Position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11480" y="151790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Mapa de Jornada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11480" y="23317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— Gestão da Mobilidade Acadêmica Internacional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788920"/>
            <a:ext cx="4114800" cy="274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9535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e Modelagem de Sistemas  ·  </a:t>
            </a:r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— Unifor 2026.1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310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 · 27/04 a 01/05/2026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apresentar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457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77724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80160" y="1097280"/>
            <a:ext cx="74066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1612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Position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4447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pitch do nosso produto em uma frase: para quem é, qual problema resolve e qual o diferencial.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77724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6596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280160" y="1965960"/>
            <a:ext cx="74066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20299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do Usuário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231343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representação do estudante típico que vai usar o sistema, baseada em respostas reais coletadas em pesquisa.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77724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3464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280160" y="2834640"/>
            <a:ext cx="74066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28986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Jornada (As-Is)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18211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hoje o processo de intercâmbio, etapa por etapa, identificando onde estão as maiores dificuldades.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77724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0332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04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280160" y="3703320"/>
            <a:ext cx="74066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37673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Emocional e Dores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17320" y="405079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visualização do impacto que o processo atual causa no estudante e o resumo das principais dores identificadas.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E4 — Statement of Position + Mapa de Jornada (As-Is)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Position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pitch do nosso produto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57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822960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109728" cy="32461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325880"/>
            <a:ext cx="75895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estudantes da Unifor, coordenadores e o NEI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cujo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de intercâmbio é manual, presencial e burocrático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nosso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uma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digital integrada de gestão da mobilidade acadêmica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 informações, valida elegibilidade, digitaliza documentos e oferece acompanhamento em tempo real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contrário do 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presencial com documentos físicos e e-mails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nosso produto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 o intercâmbio acessível, transparente e mensurável — do primeiro acesso ao aproveitamento de créditos.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Categoria: </a:t>
            </a:r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SaaS Educacional  ·  </a:t>
            </a:r>
            <a:pPr algn="ctr"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Modalidade: </a:t>
            </a:r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Mobile  ·  </a:t>
            </a:r>
            <a:pPr algn="ctr"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</a:t>
            </a:r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 (Unifor)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E4 — Statement of Position + Mapa de Jornada (As-Is)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— Lucas Almeida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estudante que representa nosso público-alvo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57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43000"/>
            <a:ext cx="1280160" cy="12801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2C39A"/>
                </a:solidFill>
              </a:rPr>
              <a:t>L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2103120" y="1143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Almeida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103120" y="15544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anos · 5º semestre · ADS — Unifor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03120" y="1874520"/>
            <a:ext cx="6675120" cy="502920"/>
          </a:xfrm>
          <a:prstGeom prst="rect">
            <a:avLst/>
          </a:prstGeom>
          <a:solidFill>
            <a:srgbClr val="F0F7FB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1874520"/>
            <a:ext cx="9144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18745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compósita: </a:t>
            </a:r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construída a partir das respostas reais de Guilherme e Thiago, dois alunos de ADS da Unifor que responderam nosso questionário.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06040"/>
            <a:ext cx="2743200" cy="1965960"/>
          </a:xfrm>
          <a:prstGeom prst="rect">
            <a:avLst/>
          </a:prstGeom>
          <a:solidFill>
            <a:srgbClr val="F8FBFD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606040"/>
            <a:ext cx="27432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06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Objetivo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" y="3108960"/>
            <a:ext cx="24323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Cursar um semestre no exterior para enriquecer o currículo e ganhar fluência em inglês.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2606040"/>
            <a:ext cx="2743200" cy="1965960"/>
          </a:xfrm>
          <a:prstGeom prst="rect">
            <a:avLst/>
          </a:prstGeom>
          <a:solidFill>
            <a:srgbClr val="F8FBF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2606040"/>
            <a:ext cx="27432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606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💭 Motivação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56432" y="3108960"/>
            <a:ext cx="24323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 expandir seus horizontes e vivenciar uma cultura diferente antes de se formar.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2606040"/>
            <a:ext cx="2743200" cy="1965960"/>
          </a:xfrm>
          <a:prstGeom prst="rect">
            <a:avLst/>
          </a:prstGeom>
          <a:solidFill>
            <a:srgbClr val="F8FBFD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2606040"/>
            <a:ext cx="274320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2606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Frustrações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82512" y="3108960"/>
            <a:ext cx="24323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sabe por onde começar, tem medo da burocracia e da barreira do idioma.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E4 — Statement of Position + Mapa de Jornada (As-Is)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Jornada (As-Is) — Início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primeiras etapas que o aluno vivencia hoje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1280160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" y="77724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Estágio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54480" y="777240"/>
            <a:ext cx="1417320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9344" y="777240"/>
            <a:ext cx="134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17520" y="777240"/>
            <a:ext cx="1600200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72384" y="777240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777240"/>
            <a:ext cx="1600200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777240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09360" y="777240"/>
            <a:ext cx="1371600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4224" y="77724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Dor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26680" y="777240"/>
            <a:ext cx="1234440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81544" y="777240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1143000"/>
            <a:ext cx="1280160" cy="1170432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1143000"/>
            <a:ext cx="1188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Descoberta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fica sabendo do programa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554480" y="1143000"/>
            <a:ext cx="1417320" cy="1170432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27632" y="1143000"/>
            <a:ext cx="1325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no site, conversa com colegas e vê posts em redes sociais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017520" y="1143000"/>
            <a:ext cx="1600200" cy="1170432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90672" y="1143000"/>
            <a:ext cx="1508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"Será que vale a pena? Por onde eu começo?"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1143000"/>
            <a:ext cx="1600200" cy="1170432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1143000"/>
            <a:ext cx="1508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😐 Curioso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porém inseguro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309360" y="1143000"/>
            <a:ext cx="1371600" cy="1170432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1143000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espalhada em várias páginas; sem visão clara do processo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726680" y="1143000"/>
            <a:ext cx="1234440" cy="1170432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99832" y="1143000"/>
            <a:ext cx="1143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28600" y="2377440"/>
            <a:ext cx="128016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" y="2377440"/>
            <a:ext cx="1188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Verificação de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Elegibilidade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 saber se atende os requisitos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554480" y="2377440"/>
            <a:ext cx="14173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27632" y="2377440"/>
            <a:ext cx="1325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 a lista de pré-requisitos e checa seu histórico para ver a média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017520" y="2377440"/>
            <a:ext cx="16002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90672" y="2377440"/>
            <a:ext cx="1508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"Eu tenho média 7? E se eu não atender os requisitos?"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63440" y="2377440"/>
            <a:ext cx="16002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36592" y="2377440"/>
            <a:ext cx="1508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😟 Ansioso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intimidado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309360" y="2377440"/>
            <a:ext cx="13716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82512" y="2377440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ferramenta automática; precisa cruzar dados manualmente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726680" y="2377440"/>
            <a:ext cx="12344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99832" y="2377440"/>
            <a:ext cx="1143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28600" y="3611880"/>
            <a:ext cx="1280160" cy="1170432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1752" y="3611880"/>
            <a:ext cx="1188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Decisão de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país e instituição parceira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554480" y="3611880"/>
            <a:ext cx="1417320" cy="1170432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27632" y="3611880"/>
            <a:ext cx="1325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 achar a lista de parceiras; muitas vezes vai ao NEI presencialmente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017520" y="3611880"/>
            <a:ext cx="1600200" cy="1170432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90672" y="3611880"/>
            <a:ext cx="1508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"Quais países combinam com meu curso? Vou ter que ir lá pessoalmente?"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663440" y="3611880"/>
            <a:ext cx="1600200" cy="1170432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36592" y="3611880"/>
            <a:ext cx="1508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😕 Perdido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sem direção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309360" y="3611880"/>
            <a:ext cx="1371600" cy="1170432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82512" y="3611880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pulverizada; sem filtro por curso, país ou idioma; obriga ida ao NEI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726680" y="3611880"/>
            <a:ext cx="1234440" cy="1170432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99832" y="3611880"/>
            <a:ext cx="1143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E4 — Statement of Position + Mapa de Jornada (As-Is)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Jornada (As-Is) — Execução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últimas etapas, onde o aluno enfrenta as maiores dificuldades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1280160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" y="77724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Estágio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54480" y="777240"/>
            <a:ext cx="1417320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9344" y="777240"/>
            <a:ext cx="134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17520" y="777240"/>
            <a:ext cx="1600200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72384" y="777240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777240"/>
            <a:ext cx="1600200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777240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09360" y="777240"/>
            <a:ext cx="1371600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4224" y="77724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Dor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26680" y="777240"/>
            <a:ext cx="1234440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81544" y="777240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1143000"/>
            <a:ext cx="1280160" cy="1170432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1143000"/>
            <a:ext cx="1188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Coleta de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Reúne os 12+ documentos exigidos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554480" y="1143000"/>
            <a:ext cx="1417320" cy="1170432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27632" y="1143000"/>
            <a:ext cx="1325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 fotos 3x4, paga tradução juramentada, prepara cartas em outro idioma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017520" y="1143000"/>
            <a:ext cx="1600200" cy="1170432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90672" y="1143000"/>
            <a:ext cx="1508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"Quanto vai custar tudo isso? Onde consigo cada documento?"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1143000"/>
            <a:ext cx="1600200" cy="1170432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1143000"/>
            <a:ext cx="1508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😣 Sobrecarregado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preocupado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309360" y="1143000"/>
            <a:ext cx="1371600" cy="1170432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1143000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alto da tradução; muitos documentos físicos; sem orientação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726680" y="1143000"/>
            <a:ext cx="1234440" cy="1170432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99832" y="1143000"/>
            <a:ext cx="1143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28600" y="2377440"/>
            <a:ext cx="128016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" y="2377440"/>
            <a:ext cx="1188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Inscrição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NEI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presencialmente entregar o dossiê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554480" y="2377440"/>
            <a:ext cx="14173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27632" y="2377440"/>
            <a:ext cx="1325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ao 1º andar da Reitoria, entrega documentos físicos, paga taxa de R$ 556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017520" y="2377440"/>
            <a:ext cx="16002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90672" y="2377440"/>
            <a:ext cx="1508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"Será que está tudo certo? E se faltou algo?"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63440" y="2377440"/>
            <a:ext cx="16002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36592" y="2377440"/>
            <a:ext cx="1508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😨 Inseguro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ansioso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309360" y="2377440"/>
            <a:ext cx="13716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82512" y="2377440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100% presencial; sem confirmação digital; processo opaco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726680" y="2377440"/>
            <a:ext cx="12344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99832" y="2377440"/>
            <a:ext cx="1143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28600" y="3611880"/>
            <a:ext cx="1280160" cy="1170432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1752" y="3611880"/>
            <a:ext cx="1188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Espera e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Embarque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 a aceitação e prepara a viagem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554480" y="3611880"/>
            <a:ext cx="1417320" cy="1170432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27632" y="3611880"/>
            <a:ext cx="1325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 carta por e-mail, solicita visto, faz seguro e organiza passagens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017520" y="3611880"/>
            <a:ext cx="1600200" cy="1170432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90672" y="3611880"/>
            <a:ext cx="1508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"Falta quanto tempo? Por que demora tanto?"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663440" y="3611880"/>
            <a:ext cx="1600200" cy="1170432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36592" y="3611880"/>
            <a:ext cx="1508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😰 Apreensivo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sem controle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309360" y="3611880"/>
            <a:ext cx="1371600" cy="1170432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82512" y="3611880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só por e-mail; sem painel de status; sem previsibilidade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726680" y="3611880"/>
            <a:ext cx="1234440" cy="1170432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99832" y="3611880"/>
            <a:ext cx="1143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E4 — Statement of Position + Mapa de Jornada (As-Is)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Emocional do Estudante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sentimento do aluno se deteriora ao longo da jornada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2560320"/>
            <a:ext cx="7498080" cy="0"/>
          </a:xfrm>
          <a:prstGeom prst="line">
            <a:avLst/>
          </a:prstGeom>
          <a:noFill/>
          <a:ln w="9525">
            <a:solidFill>
              <a:srgbClr val="4A657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" y="16459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Positivo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" y="2450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😐 Neutro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" y="33832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😟 Negativo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280160" y="2286000"/>
            <a:ext cx="1188720" cy="45720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2743200"/>
            <a:ext cx="1188720" cy="18288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2926080"/>
            <a:ext cx="1280160" cy="22860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3154680"/>
            <a:ext cx="1280160" cy="-9144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3063240"/>
            <a:ext cx="1280160" cy="27432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5568" y="2121408"/>
            <a:ext cx="329184" cy="329184"/>
          </a:xfrm>
          <a:prstGeom prst="ellipse">
            <a:avLst/>
          </a:prstGeom>
          <a:solidFill>
            <a:srgbClr val="E67E2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417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🤔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" y="2514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Descoberta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04288" y="2578608"/>
            <a:ext cx="329184" cy="329184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0" y="1874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😟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828800" y="2971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Elegibilidade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93008" y="2761488"/>
            <a:ext cx="329184" cy="329184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😕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017520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73168" y="2990088"/>
            <a:ext cx="329184" cy="329184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2286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😣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297680" y="3383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53328" y="2898648"/>
            <a:ext cx="329184" cy="329184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😨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577840" y="3291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Inscrição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33488" y="3172968"/>
            <a:ext cx="329184" cy="329184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2468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😰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858000" y="3566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251960"/>
            <a:ext cx="9144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2519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 </a:t>
            </a:r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curva é descendente. Quanto mais o aluno avança no processo, </a:t>
            </a:r>
            <a:pPr indent="0" marL="0">
              <a:buNone/>
            </a:pPr>
            <a:r>
              <a:rPr lang="en-US" sz="11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pior ele se sente — o oposto do que deveria acontecer numa experiência transformadora.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E4 — Statement of Position + Mapa de Jornada (As-Is)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estão as maiores dores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Agrupamos as 6 etapas em 3 fases macro com as principais dificuldades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877824"/>
            <a:ext cx="457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78992"/>
            <a:ext cx="640080" cy="11430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78992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51560" y="1078992"/>
            <a:ext cx="7726680" cy="1143000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11338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— Descoberta + Elegibilidade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03720" y="115214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Severidade: Alta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444752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portal centralizado de informações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1755648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"Não consegui entender por onde começar no site." — Guilherme [Resposta Real]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59152"/>
            <a:ext cx="640080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59152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051560" y="2359152"/>
            <a:ext cx="77266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24140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— Destino + Documentos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03720" y="243230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Severidade: Alta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88720" y="2724912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Burocracia documental e custos imprevistos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3035808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"Obter e validar documentos é a etapa mais difícil." — Thiago [Resposta Real]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639312"/>
            <a:ext cx="640080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639312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051560" y="3639312"/>
            <a:ext cx="7726680" cy="1143000"/>
          </a:xfrm>
          <a:prstGeom prst="rect">
            <a:avLst/>
          </a:prstGeom>
          <a:solidFill>
            <a:srgbClr val="F0F7FB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36941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— Inscrição + Espera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03720" y="371246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Severidade: Alta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88720" y="4005072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manual sem rastreamento ou previsibilidade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88720" y="4315968"/>
            <a:ext cx="7452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"Quero entregar tudo online e ver meu status pelo celular."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E4 — Statement of Position + Mapa de Jornada (As-Is)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e Próximos Passos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457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137160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188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Mapeamos </a:t>
            </a:r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etapas </a:t>
            </a:r>
            <a:pPr indent="0" marL="0">
              <a:buNone/>
            </a:pPr>
            <a:r>
              <a:rPr lang="en-US" sz="14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processo atual, identificamos </a:t>
            </a:r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dores de severidade alta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validamos o pitch do produto com base em respostas reais coletadas no E3.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8229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E6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06040"/>
            <a:ext cx="109728" cy="1691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97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 — Backlog Inicial (Épicos e Features)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154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próximo entregável, vamos transformar cada uma das dores identificadas hoje em funcionalidades concretas do sistema. Essas funcionalidades serão organizadas em épicos e priorizadas pelo método MoSCoW: Must Have (essenciais), Should Have (importantes), Could Have (desejáveis) e Won't Have (fora do escopo atual).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GlobalConnect Unifor · E4 — Statement of Position + Mapa de Jornada (As-Is)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GlobalConnect Unifor - E4 Statement of Position e Mapa de Jornada</dc:title>
  <dc:subject>PptxGenJS Presentation</dc:subject>
  <dc:creator>PptxGenJS</dc:creator>
  <cp:lastModifiedBy>PptxGenJS</cp:lastModifiedBy>
  <cp:revision>1</cp:revision>
  <dcterms:created xsi:type="dcterms:W3CDTF">2026-04-28T17:42:59Z</dcterms:created>
  <dcterms:modified xsi:type="dcterms:W3CDTF">2026-04-28T17:42:59Z</dcterms:modified>
</cp:coreProperties>
</file>