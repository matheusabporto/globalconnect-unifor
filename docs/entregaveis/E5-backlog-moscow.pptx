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731520"/>
            <a:ext cx="3200400" cy="320040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2926080"/>
            <a:ext cx="2011680" cy="2011680"/>
          </a:xfrm>
          <a:prstGeom prst="ellipse">
            <a:avLst/>
          </a:prstGeom>
          <a:solidFill>
            <a:srgbClr val="02C39A">
              <a:alpha val="20000"/>
            </a:srgbClr>
          </a:solidFill>
          <a:ln w="12700">
            <a:solidFill>
              <a:srgbClr val="02C39A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457200"/>
            <a:ext cx="1920240" cy="32918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4572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A82"/>
                </a:solidFill>
              </a:rPr>
              <a:t>ENTREGÁVEL 05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9601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Inicial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11480" y="15727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Priorizado por MoSCoW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11480" y="242316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8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GlobalConnect Unifor — Gestão da Mobilidade Acadêmica Internacional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2880360"/>
            <a:ext cx="4114800" cy="274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035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8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e Modelagem de Sistemas  ·  </a:t>
            </a:r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 — Unifor 2026.1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3383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A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4 · 04/05 a 08/05/2026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vamos apresentar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4572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777240" cy="7132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</a:rPr>
              <a:t>01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280160" y="1097280"/>
            <a:ext cx="74066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17320" y="116128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o método MoSCoW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17320" y="14447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técnica de priorização que vamos usar para classificar todas as funcionalidades do sistema.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965960"/>
            <a:ext cx="777240" cy="7132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965960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</a:rPr>
              <a:t>02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1280160" y="1965960"/>
            <a:ext cx="74066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17320" y="202996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 dos 4 Épicos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17320" y="231343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grandes blocos funcionais do sistema, cada um conectado a uma fase da jornada do usuário.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834640"/>
            <a:ext cx="777240" cy="7132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834640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</a:rPr>
              <a:t>03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1280160" y="2834640"/>
            <a:ext cx="74066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17320" y="289864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detalhado por Épico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17320" y="318211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17 features do sistema, classificadas por prioridade e ligadas às dores reais identificadas.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703320"/>
            <a:ext cx="777240" cy="7132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703320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</a:rPr>
              <a:t>04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1280160" y="3703320"/>
            <a:ext cx="74066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17320" y="376732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da priorização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417320" y="405079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Quantas features de cada categoria, e o que define o nosso MVP (Produto Mínimo Viável).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" y="48280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GlobalConnect Unifor · E5 — Backlog Inicial Priorizado (MoSCoW)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o método MoSCoW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técnica de priorização que separa as funcionalidades em 4 categorias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4572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777240" cy="7132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80160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M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1280160" y="1280160"/>
            <a:ext cx="7406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17320" y="1325880"/>
            <a:ext cx="7178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Have</a:t>
            </a:r>
            <a:pPr indent="0" marL="0">
              <a:buNone/>
            </a:pPr>
            <a:r>
              <a:rPr lang="en-US" sz="13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</a:t>
            </a:r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Essencial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17320" y="1609344"/>
            <a:ext cx="7178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essa funcionalidade, o sistema não cumpre seu objetivo principal. São os requisitos mínimos do MVP.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148840"/>
            <a:ext cx="777240" cy="71323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148840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1280160" y="2148840"/>
            <a:ext cx="7406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17320" y="2194560"/>
            <a:ext cx="7178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Have</a:t>
            </a:r>
            <a:pPr indent="0" marL="0">
              <a:buNone/>
            </a:pPr>
            <a:r>
              <a:rPr lang="en-US" sz="13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</a:t>
            </a:r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17320" y="2478024"/>
            <a:ext cx="7178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 valor relevante para o usuário, mas pode ser implementada após o lançamento inicial.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777240" cy="71323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017520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</a:t>
            </a:r>
            <a:endParaRPr lang="en-US" sz="3600" dirty="0"/>
          </a:p>
        </p:txBody>
      </p:sp>
      <p:sp>
        <p:nvSpPr>
          <p:cNvPr id="18" name="Shape 16"/>
          <p:cNvSpPr/>
          <p:nvPr/>
        </p:nvSpPr>
        <p:spPr>
          <a:xfrm>
            <a:off x="1280160" y="3017520"/>
            <a:ext cx="7406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17320" y="3063240"/>
            <a:ext cx="7178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Have</a:t>
            </a:r>
            <a:pPr indent="0" marL="0">
              <a:buNone/>
            </a:pPr>
            <a:r>
              <a:rPr lang="en-US" sz="13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</a:t>
            </a:r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Desejável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17320" y="3346704"/>
            <a:ext cx="7178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Melhoria incremental que agrega valor à experiência, mas não é essencial para o funcionamento.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886200"/>
            <a:ext cx="777240" cy="713232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886200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W</a:t>
            </a:r>
            <a:endParaRPr lang="en-US" sz="3600" dirty="0"/>
          </a:p>
        </p:txBody>
      </p:sp>
      <p:sp>
        <p:nvSpPr>
          <p:cNvPr id="23" name="Shape 21"/>
          <p:cNvSpPr/>
          <p:nvPr/>
        </p:nvSpPr>
        <p:spPr>
          <a:xfrm>
            <a:off x="1280160" y="3886200"/>
            <a:ext cx="7406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417320" y="3931920"/>
            <a:ext cx="7178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Won't Have</a:t>
            </a:r>
            <a:pPr indent="0" marL="0">
              <a:buNone/>
            </a:pPr>
            <a:r>
              <a:rPr lang="en-US" sz="13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</a:t>
            </a:r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Fora do escopo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417320" y="4215384"/>
            <a:ext cx="7178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 reconhecidas como ideias, mas que não entram nesta versão. Podem ser exploradas no futuro.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48280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GlobalConnect Unifor · E5 — Backlog Inicial Priorizado (MoSCoW)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09728" cy="50703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 dos 4 Épicos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6217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épico resolve um conjunto de dores mapeado na jornada do usuário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4572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078992"/>
            <a:ext cx="42519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078992"/>
            <a:ext cx="425196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07899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  ·  Descoberta e Elegibilidade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20440" y="1078992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features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4632" y="1627632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Ajuda o aluno a descobrir o programa e verificar se atende os requisitos sem precisar ir ao NEI presencialmente.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078992"/>
            <a:ext cx="42519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1078992"/>
            <a:ext cx="425196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107899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  ·  Candidatura e Documentação Digital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955280" y="1078992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features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19472" y="1627632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Digitaliza todo o processo de envio de documentos e a inscrição formal do aluno no programa de intercâmbio.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953512"/>
            <a:ext cx="42519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953512"/>
            <a:ext cx="425196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95351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E3  ·  Acompanhamento e Comunicação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520440" y="2953512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features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4632" y="3502152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Oferece painel de status em tempo real, notificações automáticas e canal de comunicação com o NEI.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2953512"/>
            <a:ext cx="42519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0" y="2953512"/>
            <a:ext cx="4251960" cy="4572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295351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E4  ·  Gestão Institucional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955280" y="2953512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features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19472" y="3502152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Painéis administrativos para o NEI e coordenadores: validação automática de elegibilidade e gestão de convênios.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" y="48280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GlobalConnect Unifor · E5 — Backlog Inicial Priorizado (MoSCoW)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09728" cy="50703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Épico 1 — Descoberta e Elegibilidade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640080"/>
            <a:ext cx="4572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777240"/>
            <a:ext cx="868680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Funcionalidades para o aluno descobrir o programa e checar elegibilidade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28600" y="1371600"/>
            <a:ext cx="105156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3464" y="1371600"/>
            <a:ext cx="978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280160" y="1371600"/>
            <a:ext cx="288036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35024" y="1371600"/>
            <a:ext cx="2807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60520" y="1371600"/>
            <a:ext cx="356616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15384" y="1371600"/>
            <a:ext cx="3493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Descrição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726680" y="1371600"/>
            <a:ext cx="118872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81544" y="1371600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28600" y="1719072"/>
            <a:ext cx="1051560" cy="566928"/>
          </a:xfrm>
          <a:prstGeom prst="rect">
            <a:avLst/>
          </a:prstGeom>
          <a:solidFill>
            <a:srgbClr val="F0F7FB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1752" y="1719072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F1.1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280160" y="1719072"/>
            <a:ext cx="2880360" cy="566928"/>
          </a:xfrm>
          <a:prstGeom prst="rect">
            <a:avLst/>
          </a:prstGeom>
          <a:solidFill>
            <a:srgbClr val="F0F7FB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53312" y="1719072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centralizado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oportunidades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60520" y="1719072"/>
            <a:ext cx="3566160" cy="566928"/>
          </a:xfrm>
          <a:prstGeom prst="rect">
            <a:avLst/>
          </a:prstGeom>
          <a:solidFill>
            <a:srgbClr val="F0F7FB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33672" y="1719072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única que reúne todas as informações sobre o programa, parceiras e prazos.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726680" y="1719072"/>
            <a:ext cx="1188720" cy="566928"/>
          </a:xfrm>
          <a:prstGeom prst="rect">
            <a:avLst/>
          </a:prstGeom>
          <a:solidFill>
            <a:srgbClr val="F0F7FB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99832" y="1719072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Have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28600" y="2322576"/>
            <a:ext cx="10515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1752" y="2322576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F1.2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280160" y="2322576"/>
            <a:ext cx="28803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53312" y="2322576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Verificação automática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elegibilidade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160520" y="2322576"/>
            <a:ext cx="35661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33672" y="2322576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cruza dados do histórico do aluno e informa se ele atende os pré-requisitos.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726680" y="2322576"/>
            <a:ext cx="11887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99832" y="2322576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Have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28600" y="2926080"/>
            <a:ext cx="1051560" cy="566928"/>
          </a:xfrm>
          <a:prstGeom prst="rect">
            <a:avLst/>
          </a:prstGeom>
          <a:solidFill>
            <a:srgbClr val="F0F7FB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01752" y="2926080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F1.3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280160" y="2926080"/>
            <a:ext cx="2880360" cy="566928"/>
          </a:xfrm>
          <a:prstGeom prst="rect">
            <a:avLst/>
          </a:prstGeom>
          <a:solidFill>
            <a:srgbClr val="F0F7FB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353312" y="2926080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de instituições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curso e país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160520" y="2926080"/>
            <a:ext cx="3566160" cy="566928"/>
          </a:xfrm>
          <a:prstGeom prst="rect">
            <a:avLst/>
          </a:prstGeom>
          <a:solidFill>
            <a:srgbClr val="F0F7FB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33672" y="292608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 filtra parceiras por área do seu curso, país de destino e idioma exigido.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726680" y="2926080"/>
            <a:ext cx="1188720" cy="566928"/>
          </a:xfrm>
          <a:prstGeom prst="rect">
            <a:avLst/>
          </a:prstGeom>
          <a:solidFill>
            <a:srgbClr val="F0F7FB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99832" y="292608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Have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28600" y="3529584"/>
            <a:ext cx="10515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01752" y="3529584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F1.4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1280160" y="3529584"/>
            <a:ext cx="28803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53312" y="3529584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Calculadora de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custos estimados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160520" y="3529584"/>
            <a:ext cx="35661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233672" y="3529584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 custos da experiência (taxa, tradução, passagem) com base no destino escolhido.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7726680" y="3529584"/>
            <a:ext cx="11887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799832" y="3529584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Have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365760" y="48280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GlobalConnect Unifor · E5 — Backlog Inicial Priorizado (MoSCoW)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09728" cy="50703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Épico 2 — Candidatura e Documentação Digital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640080"/>
            <a:ext cx="4572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777240"/>
            <a:ext cx="8686800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 Funcionalidades para digitalizar todo o processo de candidatura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28600" y="1371600"/>
            <a:ext cx="105156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3464" y="1371600"/>
            <a:ext cx="978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280160" y="1371600"/>
            <a:ext cx="288036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35024" y="1371600"/>
            <a:ext cx="2807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60520" y="1371600"/>
            <a:ext cx="356616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15384" y="1371600"/>
            <a:ext cx="3493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Descrição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726680" y="1371600"/>
            <a:ext cx="118872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81544" y="1371600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28600" y="1719072"/>
            <a:ext cx="1051560" cy="566928"/>
          </a:xfrm>
          <a:prstGeom prst="rect">
            <a:avLst/>
          </a:prstGeom>
          <a:solidFill>
            <a:srgbClr val="F0F7FB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1752" y="1719072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F2.1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280160" y="1719072"/>
            <a:ext cx="2880360" cy="566928"/>
          </a:xfrm>
          <a:prstGeom prst="rect">
            <a:avLst/>
          </a:prstGeom>
          <a:solidFill>
            <a:srgbClr val="F0F7FB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53312" y="1719072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digital de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60520" y="1719072"/>
            <a:ext cx="3566160" cy="566928"/>
          </a:xfrm>
          <a:prstGeom prst="rect">
            <a:avLst/>
          </a:prstGeom>
          <a:solidFill>
            <a:srgbClr val="F0F7FB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33672" y="1719072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 envia toda a documentação online, sem precisar ir ao NEI presencialmente.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726680" y="1719072"/>
            <a:ext cx="1188720" cy="566928"/>
          </a:xfrm>
          <a:prstGeom prst="rect">
            <a:avLst/>
          </a:prstGeom>
          <a:solidFill>
            <a:srgbClr val="F0F7FB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99832" y="1719072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Have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28600" y="2322576"/>
            <a:ext cx="10515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1752" y="2322576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F2.2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280160" y="2322576"/>
            <a:ext cx="28803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53312" y="2322576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interativo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documentos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160520" y="2322576"/>
            <a:ext cx="35661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33672" y="2322576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visual com cada documento exigido, o que está enviado e o que falta.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726680" y="2322576"/>
            <a:ext cx="11887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99832" y="2322576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Have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28600" y="2926080"/>
            <a:ext cx="1051560" cy="566928"/>
          </a:xfrm>
          <a:prstGeom prst="rect">
            <a:avLst/>
          </a:prstGeom>
          <a:solidFill>
            <a:srgbClr val="F0F7FB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01752" y="2926080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F2.3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280160" y="2926080"/>
            <a:ext cx="2880360" cy="566928"/>
          </a:xfrm>
          <a:prstGeom prst="rect">
            <a:avLst/>
          </a:prstGeom>
          <a:solidFill>
            <a:srgbClr val="F0F7FB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353312" y="2926080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automática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formato dos arquivos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160520" y="2926080"/>
            <a:ext cx="3566160" cy="566928"/>
          </a:xfrm>
          <a:prstGeom prst="rect">
            <a:avLst/>
          </a:prstGeom>
          <a:solidFill>
            <a:srgbClr val="F0F7FB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33672" y="292608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verifica se os arquivos estão no formato correto antes de aceitar o envio.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726680" y="2926080"/>
            <a:ext cx="1188720" cy="566928"/>
          </a:xfrm>
          <a:prstGeom prst="rect">
            <a:avLst/>
          </a:prstGeom>
          <a:solidFill>
            <a:srgbClr val="F0F7FB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99832" y="292608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Have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28600" y="3529584"/>
            <a:ext cx="10515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01752" y="3529584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F2.4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1280160" y="3529584"/>
            <a:ext cx="28803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53312" y="3529584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Pagamento integrado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taxa de inscrição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160520" y="3529584"/>
            <a:ext cx="35661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233672" y="3529584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Pagamento da taxa de R$ 556 dentro do próprio sistema, com confirmação automática.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7726680" y="3529584"/>
            <a:ext cx="11887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799832" y="3529584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Have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228600" y="4133088"/>
            <a:ext cx="1051560" cy="566928"/>
          </a:xfrm>
          <a:prstGeom prst="rect">
            <a:avLst/>
          </a:prstGeom>
          <a:solidFill>
            <a:srgbClr val="F0F7FB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01752" y="413308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F2.5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1280160" y="4133088"/>
            <a:ext cx="2880360" cy="566928"/>
          </a:xfrm>
          <a:prstGeom prst="rect">
            <a:avLst/>
          </a:prstGeom>
          <a:solidFill>
            <a:srgbClr val="F0F7FB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353312" y="4133088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Assinatura digital de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termos de responsabilidade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160520" y="4133088"/>
            <a:ext cx="3566160" cy="566928"/>
          </a:xfrm>
          <a:prstGeom prst="rect">
            <a:avLst/>
          </a:prstGeom>
          <a:solidFill>
            <a:srgbClr val="F0F7FB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233672" y="4133088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 e responsável assinam digitalmente os termos exigidos no processo.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7726680" y="4133088"/>
            <a:ext cx="1188720" cy="566928"/>
          </a:xfrm>
          <a:prstGeom prst="rect">
            <a:avLst/>
          </a:prstGeom>
          <a:solidFill>
            <a:srgbClr val="F0F7FB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799832" y="4133088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Have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365760" y="48280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GlobalConnect Unifor · E5 — Backlog Inicial Priorizado (MoSCoW)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09728" cy="50703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Épico 3 — Acompanhamento e Comunicação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640080"/>
            <a:ext cx="4572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777240"/>
            <a:ext cx="868680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Funcionalidades de transparência e comunicação ao longo do processo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28600" y="1371600"/>
            <a:ext cx="105156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3464" y="1371600"/>
            <a:ext cx="978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280160" y="1371600"/>
            <a:ext cx="288036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35024" y="1371600"/>
            <a:ext cx="2807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60520" y="1371600"/>
            <a:ext cx="356616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15384" y="1371600"/>
            <a:ext cx="3493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Descrição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726680" y="1371600"/>
            <a:ext cx="118872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81544" y="1371600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28600" y="1719072"/>
            <a:ext cx="1051560" cy="566928"/>
          </a:xfrm>
          <a:prstGeom prst="rect">
            <a:avLst/>
          </a:prstGeom>
          <a:solidFill>
            <a:srgbClr val="F0F7FB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1752" y="1719072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F3.1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280160" y="1719072"/>
            <a:ext cx="2880360" cy="566928"/>
          </a:xfrm>
          <a:prstGeom prst="rect">
            <a:avLst/>
          </a:prstGeom>
          <a:solidFill>
            <a:srgbClr val="F0F7FB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53312" y="1719072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de status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candidatura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60520" y="1719072"/>
            <a:ext cx="3566160" cy="566928"/>
          </a:xfrm>
          <a:prstGeom prst="rect">
            <a:avLst/>
          </a:prstGeom>
          <a:solidFill>
            <a:srgbClr val="F0F7FB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33672" y="1719072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 acompanha em tempo real cada etapa do processo seletivo no celular ou web.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726680" y="1719072"/>
            <a:ext cx="1188720" cy="566928"/>
          </a:xfrm>
          <a:prstGeom prst="rect">
            <a:avLst/>
          </a:prstGeom>
          <a:solidFill>
            <a:srgbClr val="F0F7FB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99832" y="1719072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Have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28600" y="2322576"/>
            <a:ext cx="10515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1752" y="2322576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F3.2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280160" y="2322576"/>
            <a:ext cx="28803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53312" y="2322576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Notificações automáticas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prazos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160520" y="2322576"/>
            <a:ext cx="35661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33672" y="2322576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por e-mail ou push sobre prazos de inscrição e pendências de documentos.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726680" y="2322576"/>
            <a:ext cx="11887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99832" y="2322576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Have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28600" y="2926080"/>
            <a:ext cx="1051560" cy="566928"/>
          </a:xfrm>
          <a:prstGeom prst="rect">
            <a:avLst/>
          </a:prstGeom>
          <a:solidFill>
            <a:srgbClr val="F0F7FB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01752" y="2926080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F3.3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280160" y="2926080"/>
            <a:ext cx="2880360" cy="566928"/>
          </a:xfrm>
          <a:prstGeom prst="rect">
            <a:avLst/>
          </a:prstGeom>
          <a:solidFill>
            <a:srgbClr val="F0F7FB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353312" y="2926080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direto com o NEI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160520" y="2926080"/>
            <a:ext cx="3566160" cy="566928"/>
          </a:xfrm>
          <a:prstGeom prst="rect">
            <a:avLst/>
          </a:prstGeom>
          <a:solidFill>
            <a:srgbClr val="F0F7FB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33672" y="292608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de mensagens para tirar dúvidas com a equipe do NEI sem precisar ir presencialmente.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726680" y="2926080"/>
            <a:ext cx="1188720" cy="566928"/>
          </a:xfrm>
          <a:prstGeom prst="rect">
            <a:avLst/>
          </a:prstGeom>
          <a:solidFill>
            <a:srgbClr val="F0F7FB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99832" y="292608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Have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28600" y="3529584"/>
            <a:ext cx="10515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01752" y="3529584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F3.4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1280160" y="3529584"/>
            <a:ext cx="28803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53312" y="3529584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Espaço de relatos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ex-intercambistas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160520" y="3529584"/>
            <a:ext cx="35661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233672" y="3529584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onde alunos que já fizeram intercâmbio compartilham experiências e dicas.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7726680" y="3529584"/>
            <a:ext cx="11887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799832" y="3529584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Have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365760" y="48280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GlobalConnect Unifor · E5 — Backlog Inicial Priorizado (MoSCoW)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09728" cy="507034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Épico 4 — Gestão Institucional (NEI e Coordenação)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640080"/>
            <a:ext cx="4572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777240"/>
            <a:ext cx="8686800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 Funcionalidades para o NEI, coordenadores e DAE gerirem o programa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28600" y="1371600"/>
            <a:ext cx="105156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3464" y="1371600"/>
            <a:ext cx="978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280160" y="1371600"/>
            <a:ext cx="288036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35024" y="1371600"/>
            <a:ext cx="2807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60520" y="1371600"/>
            <a:ext cx="356616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15384" y="1371600"/>
            <a:ext cx="3493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Descrição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726680" y="1371600"/>
            <a:ext cx="118872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81544" y="1371600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28600" y="1719072"/>
            <a:ext cx="1051560" cy="566928"/>
          </a:xfrm>
          <a:prstGeom prst="rect">
            <a:avLst/>
          </a:prstGeom>
          <a:solidFill>
            <a:srgbClr val="F0F7FB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1752" y="1719072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F4.1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280160" y="1719072"/>
            <a:ext cx="2880360" cy="566928"/>
          </a:xfrm>
          <a:prstGeom prst="rect">
            <a:avLst/>
          </a:prstGeom>
          <a:solidFill>
            <a:srgbClr val="F0F7FB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53312" y="1719072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administrativo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NEI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60520" y="1719072"/>
            <a:ext cx="3566160" cy="566928"/>
          </a:xfrm>
          <a:prstGeom prst="rect">
            <a:avLst/>
          </a:prstGeom>
          <a:solidFill>
            <a:srgbClr val="F0F7FB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33672" y="1719072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Visualização centralizada de todas as candidaturas, status e documentação dos alunos.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726680" y="1719072"/>
            <a:ext cx="1188720" cy="566928"/>
          </a:xfrm>
          <a:prstGeom prst="rect">
            <a:avLst/>
          </a:prstGeom>
          <a:solidFill>
            <a:srgbClr val="F0F7FB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99832" y="1719072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Have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28600" y="2322576"/>
            <a:ext cx="10515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1752" y="2322576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F4.2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280160" y="2322576"/>
            <a:ext cx="28803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53312" y="2322576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do coordenador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curso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160520" y="2322576"/>
            <a:ext cx="35661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33672" y="2322576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Coordenadores acompanham alunos do curso em mobilidade e validam equivalências.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726680" y="2322576"/>
            <a:ext cx="11887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99832" y="2322576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Have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28600" y="2926080"/>
            <a:ext cx="1051560" cy="566928"/>
          </a:xfrm>
          <a:prstGeom prst="rect">
            <a:avLst/>
          </a:prstGeom>
          <a:solidFill>
            <a:srgbClr val="F0F7FB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01752" y="2926080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F4.3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280160" y="2926080"/>
            <a:ext cx="2880360" cy="566928"/>
          </a:xfrm>
          <a:prstGeom prst="rect">
            <a:avLst/>
          </a:prstGeom>
          <a:solidFill>
            <a:srgbClr val="F0F7FB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353312" y="2926080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convênios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parceiras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160520" y="2926080"/>
            <a:ext cx="3566160" cy="566928"/>
          </a:xfrm>
          <a:prstGeom prst="rect">
            <a:avLst/>
          </a:prstGeom>
          <a:solidFill>
            <a:srgbClr val="F0F7FB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33672" y="292608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e atualização das 135+ instituições parceiras com vagas e requisitos.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726680" y="2926080"/>
            <a:ext cx="1188720" cy="566928"/>
          </a:xfrm>
          <a:prstGeom prst="rect">
            <a:avLst/>
          </a:prstGeom>
          <a:solidFill>
            <a:srgbClr val="F0F7FB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99832" y="292608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Have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28600" y="3529584"/>
            <a:ext cx="10515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01752" y="3529584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F4.4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1280160" y="3529584"/>
            <a:ext cx="28803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53312" y="3529584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 institucionais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automáticos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160520" y="3529584"/>
            <a:ext cx="35661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233672" y="3529584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Geração de relatórios sobre perfil dos candidatos e destinos mais procurados.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7726680" y="3529584"/>
            <a:ext cx="11887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799832" y="3529584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Have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365760" y="48280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GlobalConnect Unifor · E5 — Backlog Inicial Priorizado (MoSCoW)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da Priorização e o nosso MVP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4572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192024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1920240" cy="3657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972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Must Have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0392B"/>
                </a:solidFill>
              </a:rPr>
              <a:t>7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502920" y="21214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 essenciais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60320" y="1097280"/>
            <a:ext cx="192024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E67E2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0" y="1097280"/>
            <a:ext cx="1920240" cy="3657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10972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Should Have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60320" y="15087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67E22"/>
                </a:solidFill>
              </a:rPr>
              <a:t>6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2606040" y="21214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 importantes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1097280"/>
            <a:ext cx="192024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1097280"/>
            <a:ext cx="1920240" cy="3657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10972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Could Have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63440" y="15087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7AE60"/>
                </a:solidFill>
              </a:rPr>
              <a:t>4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4709160" y="21214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 desejáveis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766560" y="1097280"/>
            <a:ext cx="192024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0" y="1097280"/>
            <a:ext cx="1920240" cy="365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0" y="10972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Total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66560" y="15087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65A82"/>
                </a:solidFill>
              </a:rPr>
              <a:t>17</a:t>
            </a:r>
            <a:endParaRPr lang="en-US" sz="3800" dirty="0"/>
          </a:p>
        </p:txBody>
      </p:sp>
      <p:sp>
        <p:nvSpPr>
          <p:cNvPr id="24" name="Text 22"/>
          <p:cNvSpPr/>
          <p:nvPr/>
        </p:nvSpPr>
        <p:spPr>
          <a:xfrm>
            <a:off x="6812280" y="21214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mapeadas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2697480"/>
            <a:ext cx="82296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2697480"/>
            <a:ext cx="109728" cy="16916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27889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Nosso MVP — Produto Mínimo Viável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77240" y="324612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7 funcionalidades classificadas como Must Have formam o nosso MVP. Com elas, o sistema já cumpre seu objetivo principal: digitalizar a candidatura ao intercâmbio e dar visibilidade do processo aos estudantes e ao NEI. As demais funcionalidades serão implementadas em versões posteriores, conforme o feedback de uso e a disponibilidade de tempo do projeto.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65760" y="48280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GlobalConnect Unifor · E5 — Backlog Inicial Priorizado (MoSCoW)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457200"/>
            <a:ext cx="3657600" cy="3657600"/>
          </a:xfrm>
          <a:prstGeom prst="ellipse">
            <a:avLst/>
          </a:prstGeom>
          <a:solidFill>
            <a:srgbClr val="1C7293">
              <a:alpha val="25000"/>
            </a:srgbClr>
          </a:solidFill>
          <a:ln w="12700">
            <a:solidFill>
              <a:srgbClr val="1C7293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54864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411480" y="17373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priorizadas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4 épicos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11480" y="2697480"/>
            <a:ext cx="5029200" cy="274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285292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definido com 7 Must Have  ·  </a:t>
            </a:r>
            <a:pPr algn="l" indent="0" marL="0">
              <a:buNone/>
            </a:pPr>
            <a:r>
              <a:rPr lang="en-US" sz="1300" dirty="0">
                <a:solidFill>
                  <a:srgbClr val="A8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refinável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3246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feature está conectada às dores reais identificadas no E3 e ao Mapa de Jornada do E4.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3840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A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Próximo: E6 — Protótipo de Baixa Fidelidade das features Top 3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GlobalConnect Unifor - E5 Backlog Inicial MoSCoW</dc:title>
  <dc:subject>PptxGenJS Presentation</dc:subject>
  <dc:creator>PptxGenJS</dc:creator>
  <cp:lastModifiedBy>PptxGenJS</cp:lastModifiedBy>
  <cp:revision>1</cp:revision>
  <dcterms:created xsi:type="dcterms:W3CDTF">2026-05-05T17:05:15Z</dcterms:created>
  <dcterms:modified xsi:type="dcterms:W3CDTF">2026-05-05T17:05:15Z</dcterms:modified>
</cp:coreProperties>
</file>